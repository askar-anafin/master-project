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Georgia"/>
              </a:rPr>
              <a:t>Development of a </a:t>
            </a:r>
            <a:r>
              <a:rPr sz="3800" b="1" i="1">
                <a:solidFill>
                  <a:srgbClr val="B83726"/>
                </a:solidFill>
                <a:latin typeface="Georgia"/>
              </a:rPr>
              <a:t>Heart Disease Diagnosis</a:t>
            </a:r>
            <a:r>
              <a:rPr sz="3800" b="1">
                <a:solidFill>
                  <a:srgbClr val="0F172A"/>
                </a:solidFill>
                <a:latin typeface="Georgia"/>
              </a:rPr>
              <a:t> Technique
Using ECG (Electrocardiogram)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566160"/>
            <a:ext cx="10728655" cy="18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CANDIDATE</a:t>
            </a:r>
          </a:p>
          <a:p>
            <a:pPr>
              <a:spcAft>
                <a:spcPts val="600"/>
              </a:spcAft>
              <a:defRPr sz="2200" b="1">
                <a:solidFill>
                  <a:srgbClr val="0F172A"/>
                </a:solidFill>
                <a:latin typeface="Georgia"/>
              </a:defRPr>
            </a:pPr>
            <a:r>
              <a:t>Askar Anafin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Applied Data Analytics (7M06103)</a:t>
            </a:r>
            <a:br/>
            <a:r>
              <a:t>School of Artificial Intelligence &amp; Data Science</a:t>
            </a:r>
            <a:br/>
            <a:r>
              <a:t>Astana IT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931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SCIENTIFIC SUPERVISOR</a:t>
            </a:r>
          </a:p>
          <a:p>
            <a:pPr>
              <a:spcAft>
                <a:spcPts val="600"/>
              </a:spcAft>
              <a:defRPr sz="2200" b="1">
                <a:solidFill>
                  <a:srgbClr val="0F172A"/>
                </a:solidFill>
                <a:latin typeface="Georgia"/>
              </a:defRPr>
            </a:pPr>
            <a:r>
              <a:t>Minsoo Hahn,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Relevance of Thesis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Global Mortality:</a:t>
            </a:r>
            <a:r>
              <a:rPr b="0">
                <a:solidFill>
                  <a:srgbClr val="0F172A"/>
                </a:solidFill>
              </a:rPr>
              <a:t> CVDs are the leading cause of death worldwide, causing 17.9M deaths/year.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Bottleneck:</a:t>
            </a:r>
            <a:r>
              <a:rPr b="0">
                <a:solidFill>
                  <a:srgbClr val="0F172A"/>
                </a:solidFill>
              </a:rPr>
              <a:t> Manual ECG interpretation is slow, subjective, and prone to fatigue.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High Variability:</a:t>
            </a:r>
            <a:r>
              <a:rPr b="0">
                <a:solidFill>
                  <a:srgbClr val="0F172A"/>
                </a:solidFill>
              </a:rPr>
              <a:t> Inter-observer diagnostic error exceeds 20% in emergency departments.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Fragile Handcrafted Features:</a:t>
            </a:r>
            <a:r>
              <a:rPr b="0">
                <a:solidFill>
                  <a:srgbClr val="0F172A"/>
                </a:solidFill>
              </a:rPr>
              <a:t> Traditional ML relies on noise-sensitive peak detection.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Spatial Gap:</a:t>
            </a:r>
            <a:r>
              <a:rPr b="0">
                <a:solidFill>
                  <a:srgbClr val="0F172A"/>
                </a:solidFill>
              </a:rPr>
              <a:t> Standard 1D CNNs ignore the 3D anatomical geometry of electrode 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4747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The Research Need: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Develop deep learning systems that model local wave morphology and spatial lead projections for real-time, explainable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Research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solidFill>
            <a:srgbClr val="F8F6F0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FORMAL STATEMENT OF THE RESEARCH AIM: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main aim of this research is to develop and evaluate deep learning methods for automated multi-lead electrocardiogram classification to provide clinical decision support and patient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Impact:</a:t>
            </a:r>
            <a:r>
              <a:rPr b="0">
                <a:solidFill>
                  <a:srgbClr val="0F172A"/>
                </a:solidFill>
              </a:rPr>
              <a:t> Targets reducing the 20% emergency room observer error rate.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Model Scope:</a:t>
            </a:r>
            <a:r>
              <a:rPr b="0">
                <a:solidFill>
                  <a:srgbClr val="0F172A"/>
                </a:solidFill>
              </a:rPr>
              <a:t> Focuses on standard 12-lead digital ECG time-series signals.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Deployment:</a:t>
            </a:r>
            <a:r>
              <a:rPr b="0">
                <a:solidFill>
                  <a:srgbClr val="0F172A"/>
                </a:solidFill>
              </a:rPr>
              <a:t> Lightweight web application delivering inferences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①  </a:t>
            </a:r>
            <a:r>
              <a:rPr sz="1200">
                <a:solidFill>
                  <a:srgbClr val="0F172A"/>
                </a:solidFill>
                <a:latin typeface="Segoe UI"/>
              </a:rPr>
              <a:t>Build a zero-phase preprocessing pipeline to filter baseline wander and high-frequency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②  </a:t>
            </a:r>
            <a:r>
              <a:rPr sz="1200">
                <a:solidFill>
                  <a:srgbClr val="0F172A"/>
                </a:solidFill>
                <a:latin typeface="Segoe UI"/>
              </a:rPr>
              <a:t>Develop a 1D ResNet-18 model as a baseline for wave morphology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02736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③  </a:t>
            </a:r>
            <a:r>
              <a:rPr sz="1200">
                <a:solidFill>
                  <a:srgbClr val="0F172A"/>
                </a:solidFill>
                <a:latin typeface="Segoe UI"/>
              </a:rPr>
              <a:t>Design ST-ReGE GNN with a learnable adjacency matrix to capture spatial lead projections.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18304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09744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④  </a:t>
            </a:r>
            <a:r>
              <a:rPr sz="1200">
                <a:solidFill>
                  <a:srgbClr val="0F172A"/>
                </a:solidFill>
                <a:latin typeface="Segoe UI"/>
              </a:rPr>
              <a:t>Develop a 1D Vision Transformer model to capture long-range rhythm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⑤  </a:t>
            </a:r>
            <a:r>
              <a:rPr sz="1200">
                <a:solidFill>
                  <a:srgbClr val="0F172A"/>
                </a:solidFill>
                <a:latin typeface="Segoe UI"/>
              </a:rPr>
              <a:t>Formulate a Spatio-Temporal Hybrid combining convolutional morphology with transformer rhythm.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⑥  </a:t>
            </a:r>
            <a:r>
              <a:rPr sz="1200">
                <a:solidFill>
                  <a:srgbClr val="0F172A"/>
                </a:solidFill>
                <a:latin typeface="Segoe UI"/>
              </a:rPr>
              <a:t>Calibrate boundaries via post-hoc validation search and soft-voting ensembling.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⑦  </a:t>
            </a:r>
            <a:r>
              <a:rPr sz="1200">
                <a:solidFill>
                  <a:srgbClr val="0F172A"/>
                </a:solidFill>
                <a:latin typeface="Segoe UI"/>
              </a:rPr>
              <a:t>Build a real-time FastAPI web dashboard for triage upload and wave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920240"/>
                <a:gridCol w="2560320"/>
                <a:gridCol w="2041855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Publication Authors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Data Acquisition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Model(s)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Accuracy / Performance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Kiranyaz et al. (2016)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Bipolar ECG (MIT-BIH)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CNN (patient-specific)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98.9% (beat-wise acc)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Rajpurkar et al. (2017)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Single-lead (Zio Patch)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91,232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34-layer deep 1D CNN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F1-score: 0.837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Ribeiro et al. (2020)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(Telehealth Minas)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2,322,513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ResNet-based CNN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 &gt; 0.80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Zhang et al. (2021)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(CPSC 2018)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6,877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ECG-GNN (fixed spatial)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F1-score: 0.812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Vaid et al. (2023)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(Mount Sinai)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1,077,137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Vision Transformer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AUROC: 0.940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Strodthoff et al. (2021)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(PTB-XL benchmark)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21,837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ResNet-18 benchmark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F1: 0.705–0.720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This Thesis (June 2026)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(PTB-XL, filtered)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21,388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ST-ReGE GNN (learnable) + Ensemble &amp; Calibration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F1: 0.7506 / AUROC: 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F172A"/>
                </a:solidFill>
                <a:latin typeface="Segoe UI"/>
              </a:defRPr>
            </a:pPr>
            <a:r>
              <a:t>Research Choice: ST-ReGE GNN and ensembling model lead geometry and rhythms, outperforming static convolutional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NOVELTY OF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Novelty of the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83726"/>
                </a:solidFill>
                <a:latin typeface="Segoe UI"/>
              </a:defRPr>
            </a:pPr>
            <a:r>
              <a:t>01  METHODOLOGY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Dynamic Lead Graph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Models standard leads as graph nodes rather than independent stacked channels. A learnable, sigmoid-activated adjacency matrix dynamically discovers anatomical pathways and electrical correlations during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65A54"/>
                </a:solidFill>
                <a:latin typeface="Segoe UI"/>
              </a:defRPr>
            </a:pPr>
            <a:r>
              <a:t>02  EVALUATION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Multi-Paradigm Comparison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Provides a fair, standardized benchmark evaluating local convolutional morphology, lead-spatial propagation, and global attention models on the same filtered dataset to isolate true architectural benefits.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6CCB8"/>
                </a:solidFill>
                <a:latin typeface="Segoe UI"/>
              </a:defRPr>
            </a:pPr>
            <a:r>
              <a:t>03 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Decision Boundary Tuning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Applies validation-set threshold grid search to calibrate decision boundaries for minority classes. This handles severe label imbalances and optimizes clinical recall in seconds without retraining.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728655" cy="777240"/>
          </a:xfrm>
          <a:prstGeom prst="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73152" cy="777240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i="1">
                <a:solidFill>
                  <a:srgbClr val="0F172A"/>
                </a:solidFill>
                <a:latin typeface="Segoe UI"/>
              </a:defRPr>
            </a:pPr>
            <a:r>
              <a:t>Addresses three key gaps: physical lead layout modeling, model comparison fairness, and screening threshold 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PROBLEM STATEMENT: INPUT/OUTPUT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Problem Statement: Input/Output Tensors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Input Data (ECG Signal)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Digital Signal Tensor: X in R^(B x 12 x 5000)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B: Batch size of records.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12 Leads: Standard chest and limb electrode recordings.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5000 Steps: 10 seconds of signal sampled at 500 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Output Data (Diagnostic Labels)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Binary Multi-Label Vector: y in {0, 1}^(B x 5)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5 Superclasses: NORM, MI, STTC, CD, HYP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Co-occurring diagnoses: Allowed (e.g. MI + CD co-exist).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Initial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217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Database:</a:t>
            </a:r>
            <a:r>
              <a:rPr b="0">
                <a:solidFill>
                  <a:srgbClr val="0F172A"/>
                </a:solidFill>
              </a:rPr>
              <a:t> PTB-XL corpus containing 21,837 raw records from 18,885 patients.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Demographics:</a:t>
            </a:r>
            <a:r>
              <a:rPr b="0">
                <a:solidFill>
                  <a:srgbClr val="0F172A"/>
                </a:solidFill>
              </a:rPr>
              <a:t> Sex encoded as 0 for Female (11,354 records) and 1 for Male (10,445 records).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Patient Stratification:</a:t>
            </a:r>
            <a:r>
              <a:rPr b="0">
                <a:solidFill>
                  <a:srgbClr val="0F172A"/>
                </a:solidFill>
              </a:rPr>
              <a:t> Fold column (strat_fold 1-10) isolates patient records to prevent leakage and preserves diagnostic label ratios across splits.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Class Imbalance:</a:t>
            </a:r>
            <a:r>
              <a:rPr b="0">
                <a:solidFill>
                  <a:srgbClr val="0F172A"/>
                </a:solidFill>
              </a:rPr>
              <a:t> Severe ~4:1 ratio (Normal vs. Hypertrophy) requires post-hoc boundary calibration to optimize minority diagnostic recall.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411480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3749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Class-wise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NORM (Normal): 9,528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MI (Myocardial Infarction): 5,486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STTC (ST/T Changes): 5,250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CD (Conduction Disturbance): 4,907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HYP (Hypertrophy): 2,655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Total diagnostic statements: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Zero-Phase Signal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Noise Sources:</a:t>
            </a:r>
            <a:r>
              <a:rPr b="0">
                <a:solidFill>
                  <a:srgbClr val="0F172A"/>
                </a:solidFill>
              </a:rPr>
              <a:t> Baseline wander (&lt;0.5 Hz) from breathing and high-frequency EMG muscle noise.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Bandpass Filter:</a:t>
            </a:r>
            <a:r>
              <a:rPr b="0">
                <a:solidFill>
                  <a:srgbClr val="0F172A"/>
                </a:solidFill>
              </a:rPr>
              <a:t> 4th-order Butterworth digital filter (0.5 to 50 Hz).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Zero-Phase Delay:</a:t>
            </a:r>
            <a:r>
              <a:rPr b="0">
                <a:solidFill>
                  <a:srgbClr val="0F172A"/>
                </a:solidFill>
              </a:rPr>
              <a:t> Forward-backward filtering (filtfilt) cancels out phase shifts and prevents wave distortion.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Normalization:</a:t>
            </a:r>
            <a:r>
              <a:rPr b="0">
                <a:solidFill>
                  <a:srgbClr val="0F172A"/>
                </a:solidFill>
              </a:rPr>
              <a:t> Lead-wise Z-score scaling standardizes amplitudes across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preprocess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Diagnostic Label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217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Diagnostic Filtering:</a:t>
            </a:r>
            <a:r>
              <a:rPr b="0">
                <a:solidFill>
                  <a:srgbClr val="0F172A"/>
                </a:solidFill>
              </a:rPr>
              <a:t> Retains only records with active diagnostic statement labels.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All-Zeros Bias:</a:t>
            </a:r>
            <a:r>
              <a:rPr b="0">
                <a:solidFill>
                  <a:srgbClr val="0F172A"/>
                </a:solidFill>
              </a:rPr>
              <a:t> 411 records (1.89%) have only rhythm/form codes, yielding all-zero labels.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Metric Inflation:</a:t>
            </a:r>
            <a:r>
              <a:rPr b="0">
                <a:solidFill>
                  <a:srgbClr val="0F172A"/>
                </a:solidFill>
              </a:rPr>
              <a:t> Keeping all-zero records creates optimistic bias, artificially inflating F1 and AUPRC.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Final Dataset:</a:t>
            </a:r>
            <a:r>
              <a:rPr b="0">
                <a:solidFill>
                  <a:srgbClr val="0F172A"/>
                </a:solidFill>
              </a:rPr>
              <a:t> Removing all-zero records leaves 21,388 records, matching standard benchmarks.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Class Totals:</a:t>
            </a:r>
            <a:r>
              <a:rPr b="0">
                <a:solidFill>
                  <a:srgbClr val="0F172A"/>
                </a:solidFill>
              </a:rPr>
              <a:t> Positive class counts are unaffected (removed records were completely empty).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64592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Raw Count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Filtered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Corpus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21,799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21,388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Normal (NORM)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9,514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9,514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Infarction (MI)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5,469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5,469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ST/T Changes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5,235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5,235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Blocks (CD)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4,898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4,898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Hypertrophy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2,649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2,649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All-Zero Target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Baseline Models: CNN &amp;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1D Adapted ResNet-18 (CNN)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Temporal Morphology: Convolutions capture wave shapes along the temporal axis.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Inductive Bias: Weight-sharing and translation invariance make CNNs highly data-efficient.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Architecture: Stacks four residual stages with shortcut projections to prevent gradient degradation.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1D Vision Transformer (ViT-1D)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Sequential Rhythm: Models long-range temporal dependencies and cardiac rhythms using self-attention.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Tokenization: Splits temporal sequence into 100 non-overlapping patches, prepending a [CLS] token.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Constraint: Lacks spatial and temporal locality biases, making it data-hungry and prone to overfitting.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Spatio-Temporal ReGE GNN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Lead-Spatial Graph:</a:t>
            </a:r>
            <a:r>
              <a:rPr b="0">
                <a:solidFill>
                  <a:srgbClr val="0F172A"/>
                </a:solidFill>
              </a:rPr>
              <a:t> Models 12 physical leads as graph nodes to capture spatial correlations.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Shared Backbone:</a:t>
            </a:r>
            <a:r>
              <a:rPr b="0">
                <a:solidFill>
                  <a:srgbClr val="0F172A"/>
                </a:solidFill>
              </a:rPr>
              <a:t> Independent 1D CNN processes each lead to extract 256-D morphological features.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Learnable Adjacency:</a:t>
            </a:r>
            <a:r>
              <a:rPr b="0">
                <a:solidFill>
                  <a:srgbClr val="0F172A"/>
                </a:solidFill>
              </a:rPr>
              <a:t> Trainable A = Sigmoid(W_adj) in R^12x12 dynamically discovers functional electrical pathways.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Message Passing:</a:t>
            </a:r>
            <a:r>
              <a:rPr b="0">
                <a:solidFill>
                  <a:srgbClr val="0F172A"/>
                </a:solidFill>
              </a:rPr>
              <a:t> Two GCN layers propagate features over the discovered pathways.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ST-ReGE Concept &amp; Tuning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Tuning &amp; Optimization Approach: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Hyperparameters: Batch size = 32, patience = 10 epochs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Optimizer: Adam (LR = 10^-3, Weight Decay = 10^-4)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Scheduler: Cosine Annealing learning rate schedule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GCN Feature Propagation Formula: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H(l+1) = BatchNorm( ReLU( A * H(l) * W(l) ) ) + H(l)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A: Learnable Adjacency, W(l): Trainable weights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Concept: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Learnable Adjacency: Discovers functional connections directly from data, rather than assuming physical lead geometry is rigid.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Simple Analogy: A social network where leads learn to talk directly to anyone whose signals correlate, rather than only to neighbors.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Spatio-Temporal Hybrid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CNN Front-End:</a:t>
            </a:r>
            <a:r>
              <a:rPr b="0">
                <a:solidFill>
                  <a:srgbClr val="0F172A"/>
                </a:solidFill>
              </a:rPr>
              <a:t> 3 ResNet stages compress raw signals to 313 steps to extract local QRS morphology.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Squeeze-and-Excitation:</a:t>
            </a:r>
            <a:r>
              <a:rPr b="0">
                <a:solidFill>
                  <a:srgbClr val="0F172A"/>
                </a:solidFill>
              </a:rPr>
              <a:t> SE channel attention blocks recalibrate lead importance before temporal modeling.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Transformer Back-End:</a:t>
            </a:r>
            <a:r>
              <a:rPr b="0">
                <a:solidFill>
                  <a:srgbClr val="0F172A"/>
                </a:solidFill>
              </a:rPr>
              <a:t> 3-layer Encoder (8 heads, d_model = 256) models global rhythm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Hybrid Concept &amp; Tuning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Regularization &amp; Tuning Approach: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Hyperparameters: Batch size = 32, patience = 10 epochs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Classifier: 2-layer MLP with 0.2 dropout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Optimizer: Adam (LR = 10^-3, Weight Decay = 10^-4)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Scheduler: Cosine Annealing learning rate schedule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Spatio-Temporal Integration Synergy: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Combines local morphology bias of CNN with global temporal rhythm checks of Self-Attention.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Calibrates lead attention (SE blocks) prior to sequence modeling.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Analogy (Spellchecker vs. Speed-Reader):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CNN front-end acts as a spellchecker to verify individual beat shapes.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Transformer back-end speed-reads overall rhythm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Core Outcomes: ST-ReGE &amp;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ST-ReGE GNN Outcomes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How it Works: Models 12 leads as graph nodes and dynamically learns physical adjacency A = Sigmoid(W_adj) combined with 2 GCN feature propagation layers.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What it Solves: The spatial lead propagation gap of traditional 1D CNNs, discovering functional electrical pathways across different cardiac walls.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Value: Captures joint electrical changes across leads (e.g. inferior leads II, III, aVF) instead of treating leads as independent channels.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Limitations: Assumes lead geometry fits a learnable static graph; increased model complexity compared to standard baseline convolutions.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Spatio-Temporal Hybrid Outcomes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How it Works: Stacks a 3-stage ResNet morphological front-end, SE channel lead attention block, and a 3-layer Transformer Encoder rhythm back-end.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What it Solves: The data-hunger and overfitting constraints of pure 1D Vision Transformers on medium-sized database splits.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Value: Blends the local temporal inductive bias of CNNs (beat shape details) with the global rhythm sequence attention of Transformers.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Limitations: Higher computational memory and parameter counts; multi-head self-attention adds latency compared to simple convolutions.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Ensemble &amp; Boundary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83726"/>
                </a:solidFill>
                <a:latin typeface="Segoe UI"/>
              </a:defRPr>
            </a:pPr>
            <a:r>
              <a:t>SOFT ENSEMBLING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Joint Probability Voting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Blends CNN morphology, GNN spatial routing, and Hybrid attention predictions by averaging their output probabilities. This stabilizes final classifications and mitigates model-specific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65A54"/>
                </a:solidFill>
                <a:latin typeface="Segoe UI"/>
              </a:defRPr>
            </a:pPr>
            <a:r>
              <a:t>THRESHOLD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Validation-Set Grid Search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Replaces default 0.5 boundaries with class-specific thresholds: [NORM: 0.48, MI: 0.42, STTC: 0.34, CD: 0.47, HYP: 0.39]. Shifting boundaries down boosts recall on minority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6CCB8"/>
                </a:solidFill>
                <a:latin typeface="Segoe UI"/>
              </a:defRPr>
            </a:pPr>
            <a:r>
              <a:t>CLINICAL UTILITY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On-the-Fly Adaptability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Allows clinicians to tune screening sensitivity dynamically to match ICU triage requirements. Grid search runs in seconds on CPU without retraining network weights.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728655" cy="777240"/>
          </a:xfrm>
          <a:prstGeom prst="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73152" cy="777240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i="1">
                <a:solidFill>
                  <a:srgbClr val="0F172A"/>
                </a:solidFill>
                <a:latin typeface="Segoe UI"/>
              </a:defRPr>
            </a:pPr>
            <a:r>
              <a:t>Why Calibration over Loss-Weighting? It preserves probability rank-ordering capability (AUPRC) and runs in seconds without altering model gradients.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Quantitative Model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  <a:gridCol w="1371600"/>
                <a:gridCol w="1554480"/>
                <a:gridCol w="176753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CNN (ResNet-18)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GNN (ST-ReGE)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ViT-1D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S-T Hybrid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Ensemble (Default)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Ensemble (Opt.)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0.7285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0.7444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0.6820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0.7226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0.7435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0.7506 (+0.71%)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AUROC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0.9266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0.9269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0.8939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AUPRC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0.8125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0.8218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0.7484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0.8064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Exact Match Acc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63.58%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64.42%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59.51%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62.41%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65.59%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64.24%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22.5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23.9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19.5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16.7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F172A"/>
                </a:solidFill>
                <a:latin typeface="Segoe UI"/>
              </a:defRPr>
            </a:pPr>
            <a:r>
              <a:t>Result Summary: ST-ReGE GNN is the top single model. The calibrated soft ensemble achieves the highest overall score (0.7506 F1).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Model Interpretability (1D Grad-CAM)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1D Grad-CAM:</a:t>
            </a:r>
            <a:r>
              <a:rPr b="0">
                <a:solidFill>
                  <a:srgbClr val="0F172A"/>
                </a:solidFill>
              </a:rPr>
              <a:t> Computes gradients of target class scores relative to activation maps of the last convolutional layer.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MI Localization:</a:t>
            </a:r>
            <a:r>
              <a:rPr b="0">
                <a:solidFill>
                  <a:srgbClr val="0F172A"/>
                </a:solidFill>
              </a:rPr>
              <a:t> For Myocardial Infarction predictions, the peak activation is localized directly on the ST-segment elevation in Lead V2.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Integration:</a:t>
            </a:r>
            <a:r>
              <a:rPr b="0">
                <a:solidFill>
                  <a:srgbClr val="0F172A"/>
                </a:solidFill>
              </a:rPr>
              <a:t> Heatmap peaks focus on diagnostic wave morphology rather than noise, confirming the model acts as an interpretable diagnostic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gradcam_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Clinical Error Analysis (Confusion Matrix)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Healthy Patient Filtering:</a:t>
            </a:r>
            <a:r>
              <a:rPr b="0">
                <a:solidFill>
                  <a:srgbClr val="0F172A"/>
                </a:solidFill>
              </a:rPr>
              <a:t> Normal Sinus Rhythms (NORM) are correctly filtered with a high 91% sensitivity.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HYP vs. STTC Mimicry:</a:t>
            </a:r>
            <a:r>
              <a:rPr b="0">
                <a:solidFill>
                  <a:srgbClr val="0F172A"/>
                </a:solidFill>
              </a:rPr>
              <a:t> 15% of Hypertrophy (HYP) cases are misclassified as ST/T changes (STTC).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Ventricular Strain Justification:</a:t>
            </a:r>
            <a:r>
              <a:rPr b="0">
                <a:solidFill>
                  <a:srgbClr val="0F172A"/>
                </a:solidFill>
              </a:rPr>
              <a:t> Left Ventricular Hypertrophy (LVH) causes mechanical strain on the heart wall, resulting in lateral ST-segment depression and T-wave inversion. This mimics primary ischemic ST/T changes, causing logical overlap.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FastAPI Diagnostic Triage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Async Backend:</a:t>
            </a:r>
            <a:r>
              <a:rPr b="0">
                <a:solidFill>
                  <a:srgbClr val="0F172A"/>
                </a:solidFill>
              </a:rPr>
              <a:t> FastAPI server utilizing Pydantic for validation and fast inference.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File Ingestion:</a:t>
            </a:r>
            <a:r>
              <a:rPr b="0">
                <a:solidFill>
                  <a:srgbClr val="0F172A"/>
                </a:solidFill>
              </a:rPr>
              <a:t> Validates and accepts digital ECG input files in JSON or CSV formats.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Triage Dashboard:</a:t>
            </a:r>
            <a:r>
              <a:rPr b="0">
                <a:solidFill>
                  <a:srgbClr val="0F172A"/>
                </a:solidFill>
              </a:rPr>
              <a:t> Clean light-theme interface with slate gray panels to prevent eye strain.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Waveform Plots:</a:t>
            </a:r>
            <a:r>
              <a:rPr b="0">
                <a:solidFill>
                  <a:srgbClr val="0F172A"/>
                </a:solidFill>
              </a:rPr>
              <a:t> Plots lead waveforms dynamically on pink ECG thermal grid layouts.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Triage Output:</a:t>
            </a:r>
            <a:r>
              <a:rPr b="0">
                <a:solidFill>
                  <a:srgbClr val="0F172A"/>
                </a:solidFill>
              </a:rPr>
              <a:t> Displays ensemble class probabilities and flags critical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test_web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Scholarly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B83726"/>
                </a:solidFill>
                <a:latin typeface="Segoe UI"/>
              </a:defRPr>
            </a:pPr>
            <a:r>
              <a:t>SCHOLARLY CITATION</a:t>
            </a:r>
          </a:p>
          <a:p>
            <a:pPr>
              <a:spcAft>
                <a:spcPts val="1800"/>
              </a:spcAft>
              <a:defRPr sz="2100" b="1">
                <a:solidFill>
                  <a:srgbClr val="0F172A"/>
                </a:solidFill>
                <a:latin typeface="Georgia"/>
              </a:defRPr>
            </a:pPr>
            <a:r>
              <a:t>“Development of a Heart Disease Diagnosis Technique Using ECG Signals”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Askar Anafin, Minsoo Hahn</a:t>
            </a:r>
          </a:p>
          <a:p>
            <a:pPr>
              <a:defRPr sz="1300" b="1">
                <a:solidFill>
                  <a:srgbClr val="94A3B8"/>
                </a:solidFill>
                <a:latin typeface="Segoe UI"/>
              </a:defRPr>
            </a:pPr>
            <a:r>
              <a:t>Journal: Central Asian Journal (CAJ),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4" name="Picture 13" descr="journa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2194560" cy="3108960"/>
          </a:xfrm>
          <a:prstGeom prst="rect">
            <a:avLst/>
          </a:prstGeom>
        </p:spPr>
      </p:pic>
      <p:pic>
        <p:nvPicPr>
          <p:cNvPr id="15" name="Picture 14" descr="publication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103120"/>
            <a:ext cx="21945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1. Implemented zero-phase Butterworth filter and Z-score scaling to remove noise.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2. Built 1D ResNet-18 baseline, achieving a strong 0.7285 Macro F1-score.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3. Developed ST-ReGE GNN with learnable adjacency, capturing lead spatial correlations (F1:</a:t>
            </a:r>
            <a:r>
              <a:rPr b="0">
                <a:solidFill>
                  <a:srgbClr val="0F172A"/>
                </a:solidFill>
              </a:rPr>
              <a:t> 0.7444).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4. Evaluated 1D ViT, showing it underperforms on medium databases due to inductive bias gaps.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5. Built Spatio-Temporal Hybrid combining convolutional morphology with attention rhythm.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6. Calibrated decision boundaries and ensembled models to reach 0.7506 F1 and 0.9344 AUROC.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7. Built async FastAPI prototype and dashboard GUI for real-time triage demo.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3726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172A"/>
                </a:solidFill>
                <a:latin typeface="Georgia"/>
              </a:defRPr>
            </a:pPr>
            <a:r>
              <a:t>Thank you</a:t>
            </a:r>
            <a:br/>
            <a:r>
              <a:rPr sz="4800" b="1" i="1">
                <a:solidFill>
                  <a:srgbClr val="B83726"/>
                </a:solidFill>
                <a:latin typeface="Georgia"/>
              </a:rPr>
              <a:t>for your attention.</a:t>
            </a:r>
          </a:p>
          <a:p>
            <a:pPr algn="l">
              <a:spcBef>
                <a:spcPts val="1200"/>
              </a:spcBef>
              <a:defRPr sz="1800" i="1">
                <a:solidFill>
                  <a:srgbClr val="0F172A"/>
                </a:solidFill>
                <a:latin typeface="Segoe UI"/>
              </a:defRPr>
            </a:pPr>
            <a:r>
              <a:t>I welcome your questions and discussion.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CANDIDATE</a:t>
            </a:r>
          </a:p>
          <a:p>
            <a:pPr>
              <a:defRPr sz="1600" b="1">
                <a:solidFill>
                  <a:srgbClr val="0F172A"/>
                </a:solidFill>
                <a:latin typeface="Georgia"/>
              </a:defRPr>
            </a:pPr>
            <a:r>
              <a:t>Askar Anafin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7548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SCIENTIFIC SUPERVISOR</a:t>
            </a:r>
          </a:p>
          <a:p>
            <a:pPr>
              <a:defRPr sz="1600" b="1">
                <a:solidFill>
                  <a:srgbClr val="0F172A"/>
                </a:solidFill>
                <a:latin typeface="Georgia"/>
              </a:defRPr>
            </a:pPr>
            <a:r>
              <a:t>Minsoo Hahn, PhD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